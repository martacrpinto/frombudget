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6400800" cy="9144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5400" b="1">
                <a:solidFill>
                  <a:srgbClr val="101010"/>
                </a:solidFill>
                <a:latin typeface="Georgia"/>
              </a:rPr>
              <a:t>from: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148840"/>
            <a:ext cx="45720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00" b="1">
                <a:solidFill>
                  <a:srgbClr val="78917A"/>
                </a:solidFill>
                <a:latin typeface="Aptos"/>
              </a:rPr>
              <a:t>BUDGET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788920"/>
            <a:ext cx="731520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3200" b="1">
                <a:solidFill>
                  <a:srgbClr val="101010"/>
                </a:solidFill>
                <a:latin typeface="Aptos Display"/>
              </a:rPr>
              <a:t>Manual de utilização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3611880"/>
            <a:ext cx="7315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0">
                <a:solidFill>
                  <a:srgbClr val="6B706C"/>
                </a:solidFill>
                <a:latin typeface="Aptos"/>
              </a:rPr>
              <a:t>Como entrar, preencher, validar e exportar budgets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5943600"/>
            <a:ext cx="64008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00" b="1">
                <a:solidFill>
                  <a:srgbClr val="78917A"/>
                </a:solidFill>
                <a:latin typeface="Aptos"/>
              </a:rPr>
              <a:t>https://frombudget.vercel.app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0">
                <a:solidFill>
                  <a:srgbClr val="6B706C"/>
                </a:solidFill>
                <a:latin typeface="Aptos"/>
              </a:rPr>
              <a:t>from: · Budget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00" b="0">
                <a:solidFill>
                  <a:srgbClr val="6B706C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5156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78917A"/>
                </a:solidFill>
                <a:latin typeface="Aptos"/>
              </a:rPr>
              <a:t>01 · ACESSO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69848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Aptos Display"/>
              </a:rPr>
              <a:t>Entrar na aplicação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5720"/>
          </a:xfrm>
          <a:prstGeom prst="rect">
            <a:avLst/>
          </a:prstGeom>
          <a:solidFill>
            <a:srgbClr val="789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2120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20240"/>
            <a:ext cx="4809744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78917A"/>
                </a:solidFill>
                <a:latin typeface="Aptos"/>
              </a:rPr>
              <a:t>Acesso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40864"/>
            <a:ext cx="4809744" cy="2468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242424"/>
                </a:solidFill>
                <a:latin typeface="Aptos"/>
              </a:rPr>
              <a:t>Abra o endereço da aplicação.
Introduza o email e a password recebidos do administrador e clique em Enter.
O sistema não envia convites automáticos. As credenciais são entregues manualmente.</a:t>
            </a:r>
          </a:p>
        </p:txBody>
      </p:sp>
      <p:pic>
        <p:nvPicPr>
          <p:cNvPr id="8" name="Picture 7" descr="codex-clipboard-a9e13942-94a6-497c-89e6-d0482a5dc8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4480560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0">
                <a:solidFill>
                  <a:srgbClr val="6B706C"/>
                </a:solidFill>
                <a:latin typeface="Aptos"/>
              </a:rPr>
              <a:t>from: · Budget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00" b="0">
                <a:solidFill>
                  <a:srgbClr val="6B706C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5156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78917A"/>
                </a:solidFill>
                <a:latin typeface="Aptos"/>
              </a:rPr>
              <a:t>02 · PASSWORD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69848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Aptos Display"/>
              </a:rPr>
              <a:t>Primeiro acesso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5720"/>
          </a:xfrm>
          <a:prstGeom prst="rect">
            <a:avLst/>
          </a:prstGeom>
          <a:solidFill>
            <a:srgbClr val="789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42416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0">
                <a:solidFill>
                  <a:srgbClr val="242424"/>
                </a:solidFill>
                <a:latin typeface="Aptos"/>
              </a:rPr>
              <a:t>As credenciais temporárias servem apenas para entrar pela primeira vez.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32461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514600"/>
            <a:ext cx="2843784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78917A"/>
                </a:solidFill>
                <a:latin typeface="Aptos"/>
              </a:rPr>
              <a:t>1 · Entrar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35224"/>
            <a:ext cx="2843784" cy="1417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242424"/>
                </a:solidFill>
                <a:latin typeface="Aptos"/>
              </a:rPr>
              <a:t>Use o email e a password temporária entregues pelo administrador.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331720"/>
            <a:ext cx="32461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2514600"/>
            <a:ext cx="2843784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78917A"/>
                </a:solidFill>
                <a:latin typeface="Aptos"/>
              </a:rPr>
              <a:t>2 · Definir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935224"/>
            <a:ext cx="2843784" cy="1417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242424"/>
                </a:solidFill>
                <a:latin typeface="Aptos"/>
              </a:rPr>
              <a:t>Escolha uma password pessoal e confirme-a.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331720"/>
            <a:ext cx="32461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2514600"/>
            <a:ext cx="2843784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78917A"/>
                </a:solidFill>
                <a:latin typeface="Aptos"/>
              </a:rPr>
              <a:t>3 · Continuar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935224"/>
            <a:ext cx="2843784" cy="1417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242424"/>
                </a:solidFill>
                <a:latin typeface="Aptos"/>
              </a:rPr>
              <a:t>A partir daí, use sempre a password pessoal.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66360"/>
            <a:ext cx="987552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400" b="1">
                <a:solidFill>
                  <a:srgbClr val="78917A"/>
                </a:solidFill>
                <a:latin typeface="Aptos"/>
              </a:rPr>
              <a:t>Se perder a password, peça ao administrador novas credenciais temporárias.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0">
                <a:solidFill>
                  <a:srgbClr val="6B706C"/>
                </a:solidFill>
                <a:latin typeface="Aptos"/>
              </a:rPr>
              <a:t>from: · Budget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00" b="0">
                <a:solidFill>
                  <a:srgbClr val="6B706C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5156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78917A"/>
                </a:solidFill>
                <a:latin typeface="Aptos"/>
              </a:rPr>
              <a:t>03 · ESTRUTURA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69848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Aptos Display"/>
              </a:rPr>
              <a:t>Navegação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5720"/>
          </a:xfrm>
          <a:prstGeom prst="rect">
            <a:avLst/>
          </a:prstGeom>
          <a:solidFill>
            <a:srgbClr val="789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1005840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0">
                <a:solidFill>
                  <a:srgbClr val="242424"/>
                </a:solidFill>
                <a:latin typeface="Aptos"/>
              </a:rPr>
              <a:t>A app organiza o trabalho por ano, categoria e página de budget.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32461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423160"/>
            <a:ext cx="2843784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78917A"/>
                </a:solidFill>
                <a:latin typeface="Aptos"/>
              </a:rPr>
              <a:t>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843784"/>
            <a:ext cx="2843784" cy="18287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242424"/>
                </a:solidFill>
                <a:latin typeface="Aptos"/>
              </a:rPr>
              <a:t>Escolha o ano do budget que pretende consultar ou preencher.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240280"/>
            <a:ext cx="32461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2423160"/>
            <a:ext cx="2843784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78917A"/>
                </a:solidFill>
                <a:latin typeface="Aptos"/>
              </a:rPr>
              <a:t>Categoria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843784"/>
            <a:ext cx="2843784" cy="18287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242424"/>
                </a:solidFill>
                <a:latin typeface="Aptos"/>
              </a:rPr>
              <a:t>Abra a categoria e a página correspondente.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240280"/>
            <a:ext cx="32461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2423160"/>
            <a:ext cx="2843784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78917A"/>
                </a:solidFill>
                <a:latin typeface="Aptos"/>
              </a:rPr>
              <a:t>Totais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843784"/>
            <a:ext cx="2843784" cy="18287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242424"/>
                </a:solidFill>
                <a:latin typeface="Aptos"/>
              </a:rPr>
              <a:t>Use dashboards para acompanhar From, Heads e comparações.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0">
                <a:solidFill>
                  <a:srgbClr val="6B706C"/>
                </a:solidFill>
                <a:latin typeface="Aptos"/>
              </a:rPr>
              <a:t>from: · Budget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00" b="0">
                <a:solidFill>
                  <a:srgbClr val="6B706C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5156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78917A"/>
                </a:solidFill>
                <a:latin typeface="Aptos"/>
              </a:rPr>
              <a:t>04 · EDIÇÃO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69848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Aptos Display"/>
              </a:rPr>
              <a:t>Preencher o 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5720"/>
          </a:xfrm>
          <a:prstGeom prst="rect">
            <a:avLst/>
          </a:prstGeom>
          <a:solidFill>
            <a:srgbClr val="789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0292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74520"/>
            <a:ext cx="4626864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78917A"/>
                </a:solidFill>
                <a:latin typeface="Aptos"/>
              </a:rPr>
              <a:t>Valores mensais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295144"/>
            <a:ext cx="4626864" cy="2468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242424"/>
                </a:solidFill>
                <a:latin typeface="Aptos"/>
              </a:rPr>
              <a:t>Clique na célula pretendida e introduza o valor.
A aplicação guarda alterações automaticamente. Confirme os totais depois de editar.
Os valores ficam ligados ao ano, categoria, utilizador e mês.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91640"/>
            <a:ext cx="49377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874520"/>
            <a:ext cx="4535424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78917A"/>
                </a:solidFill>
                <a:latin typeface="Aptos"/>
              </a:rPr>
              <a:t>Colar do Excel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295144"/>
            <a:ext cx="4535424" cy="2468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242424"/>
                </a:solidFill>
                <a:latin typeface="Aptos"/>
              </a:rPr>
              <a:t>Copie as células no Excel.
Selecione a primeira célula correspondente na app e cole.
Reveja linhas, colunas e totais após a colagem.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0">
                <a:solidFill>
                  <a:srgbClr val="6B706C"/>
                </a:solidFill>
                <a:latin typeface="Aptos"/>
              </a:rPr>
              <a:t>from: · Budget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00" b="0">
                <a:solidFill>
                  <a:srgbClr val="6B706C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5156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78917A"/>
                </a:solidFill>
                <a:latin typeface="Aptos"/>
              </a:rPr>
              <a:t>05 · COLABORAÇÃO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69848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Aptos Display"/>
              </a:rPr>
              <a:t>Notas, comentários e estado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5720"/>
          </a:xfrm>
          <a:prstGeom prst="rect">
            <a:avLst/>
          </a:prstGeom>
          <a:solidFill>
            <a:srgbClr val="789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4612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011680"/>
            <a:ext cx="2843784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78917A"/>
                </a:solidFill>
                <a:latin typeface="Aptos"/>
              </a:rPr>
              <a:t>Notas de linha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432304"/>
            <a:ext cx="2843784" cy="18745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242424"/>
                </a:solidFill>
                <a:latin typeface="Aptos"/>
              </a:rPr>
              <a:t>Explique um valor diretamente na linha quando for preciso deixar contexto.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4612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43784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78917A"/>
                </a:solidFill>
                <a:latin typeface="Aptos"/>
              </a:rPr>
              <a:t>Comentários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32304"/>
            <a:ext cx="2843784" cy="18745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242424"/>
                </a:solidFill>
                <a:latin typeface="Aptos"/>
              </a:rPr>
              <a:t>Use os comentários da página para perguntas, respostas e esclarecimentos.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324612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8" y="2011680"/>
            <a:ext cx="2843784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78917A"/>
                </a:solidFill>
                <a:latin typeface="Aptos"/>
              </a:rPr>
              <a:t>Estado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432304"/>
            <a:ext cx="2843784" cy="18745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242424"/>
                </a:solidFill>
                <a:latin typeface="Aptos"/>
              </a:rPr>
              <a:t>Atualize o progresso da página e acompanhe alterações dos restantes utilizadores.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0">
                <a:solidFill>
                  <a:srgbClr val="6B706C"/>
                </a:solidFill>
                <a:latin typeface="Aptos"/>
              </a:rPr>
              <a:t>from: · Budget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00" b="0">
                <a:solidFill>
                  <a:srgbClr val="6B706C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5156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78917A"/>
                </a:solidFill>
                <a:latin typeface="Aptos"/>
              </a:rPr>
              <a:t>06 · CONTROLO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69848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Aptos Display"/>
              </a:rPr>
              <a:t>Submeter e validar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5720"/>
          </a:xfrm>
          <a:prstGeom prst="rect">
            <a:avLst/>
          </a:prstGeom>
          <a:solidFill>
            <a:srgbClr val="789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24128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0">
                <a:solidFill>
                  <a:srgbClr val="242424"/>
                </a:solidFill>
                <a:latin typeface="Aptos"/>
              </a:rPr>
              <a:t>Antes de submeter, reveja valores, notas e comentários.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32461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514600"/>
            <a:ext cx="2843784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78917A"/>
                </a:solidFill>
                <a:latin typeface="Aptos"/>
              </a:rPr>
              <a:t>Submeter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935224"/>
            <a:ext cx="2843784" cy="16001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242424"/>
                </a:solidFill>
                <a:latin typeface="Aptos"/>
              </a:rPr>
              <a:t>Envie a página para validação quando os dados estiverem prontos.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331720"/>
            <a:ext cx="32461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2514600"/>
            <a:ext cx="2843784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78917A"/>
                </a:solidFill>
                <a:latin typeface="Aptos"/>
              </a:rPr>
              <a:t>Validar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935224"/>
            <a:ext cx="2843784" cy="16001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242424"/>
                </a:solidFill>
                <a:latin typeface="Aptos"/>
              </a:rPr>
              <a:t>Um approver ou administrador confirma a página ou pede correções.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2331720"/>
            <a:ext cx="32461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2514600"/>
            <a:ext cx="2843784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78917A"/>
                </a:solidFill>
                <a:latin typeface="Aptos"/>
              </a:rPr>
              <a:t>Bloquear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935224"/>
            <a:ext cx="2843784" cy="16001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242424"/>
                </a:solidFill>
                <a:latin typeface="Aptos"/>
              </a:rPr>
              <a:t>Depois de validada, a página fica bloqueada para edição.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0">
                <a:solidFill>
                  <a:srgbClr val="6B706C"/>
                </a:solidFill>
                <a:latin typeface="Aptos"/>
              </a:rPr>
              <a:t>from: · Budget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00" b="0">
                <a:solidFill>
                  <a:srgbClr val="6B706C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5156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78917A"/>
                </a:solidFill>
                <a:latin typeface="Aptos"/>
              </a:rPr>
              <a:t>07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69848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Aptos Display"/>
              </a:rPr>
              <a:t>Dashboards e exportação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5720"/>
          </a:xfrm>
          <a:prstGeom prst="rect">
            <a:avLst/>
          </a:prstGeom>
          <a:solidFill>
            <a:srgbClr val="789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20240"/>
            <a:ext cx="4626864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78917A"/>
                </a:solidFill>
                <a:latin typeface="Aptos"/>
              </a:rPr>
              <a:t>Acompanhar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40864"/>
            <a:ext cx="4626864" cy="23317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242424"/>
                </a:solidFill>
                <a:latin typeface="Aptos"/>
              </a:rPr>
              <a:t>Use os dashboards para comparar totais, anos e áreas. O simulador de remuneração permite testar configurações e FTEs.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493776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920240"/>
            <a:ext cx="4535424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78917A"/>
                </a:solidFill>
                <a:latin typeface="Aptos"/>
              </a:rPr>
              <a:t>Exportar XLSX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340864"/>
            <a:ext cx="4535424" cy="23317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242424"/>
                </a:solidFill>
                <a:latin typeface="Aptos"/>
              </a:rPr>
              <a:t>Abra a opção de exportação, escolha o âmbito e gere o ficheiro Excel. Guarde a versão para consulta ou partilha.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0">
                <a:solidFill>
                  <a:srgbClr val="6B706C"/>
                </a:solidFill>
                <a:latin typeface="Aptos"/>
              </a:rPr>
              <a:t>from: · Budget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00" b="0">
                <a:solidFill>
                  <a:srgbClr val="6B706C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5156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78917A"/>
                </a:solidFill>
                <a:latin typeface="Aptos"/>
              </a:rPr>
              <a:t>08 · GESTÃO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69848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Aptos Display"/>
              </a:rPr>
              <a:t>Tarefas do administrador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5720"/>
          </a:xfrm>
          <a:prstGeom prst="rect">
            <a:avLst/>
          </a:prstGeom>
          <a:solidFill>
            <a:srgbClr val="789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0292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83080"/>
            <a:ext cx="4626864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78917A"/>
                </a:solidFill>
                <a:latin typeface="Aptos"/>
              </a:rPr>
              <a:t>Credenciais manuais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203704"/>
            <a:ext cx="4626864" cy="2651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242424"/>
                </a:solidFill>
                <a:latin typeface="Aptos"/>
              </a:rPr>
              <a:t>Em Manage Users, use @ para criar um login num perfil sem email. Use o cadeado para gerar uma nova password temporária. Entregue as credenciais manualmente.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00200"/>
            <a:ext cx="49377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783080"/>
            <a:ext cx="4535424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78917A"/>
                </a:solidFill>
                <a:latin typeface="Aptos"/>
              </a:rPr>
              <a:t>Alterar 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203704"/>
            <a:ext cx="4535424" cy="2651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242424"/>
                </a:solidFill>
                <a:latin typeface="Aptos"/>
              </a:rPr>
              <a:t>Use @ / Change email. A password mantém-se igual e não é enviado nenhum email. A pessoa deve entrar depois com o novo endereço.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0">
                <a:solidFill>
                  <a:srgbClr val="6B706C"/>
                </a:solidFill>
                <a:latin typeface="Aptos"/>
              </a:rPr>
              <a:t>from: · Budget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00" b="0">
                <a:solidFill>
                  <a:srgbClr val="6B706C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5156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78917A"/>
                </a:solidFill>
                <a:latin typeface="Aptos"/>
              </a:rPr>
              <a:t>09 · AJUDA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69848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Aptos Display"/>
              </a:rPr>
              <a:t>Se algo não funcionar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5720"/>
          </a:xfrm>
          <a:prstGeom prst="rect">
            <a:avLst/>
          </a:prstGeom>
          <a:solidFill>
            <a:srgbClr val="789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0292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74520"/>
            <a:ext cx="4626864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78917A"/>
                </a:solidFill>
                <a:latin typeface="Aptos"/>
              </a:rPr>
              <a:t>Primeiras verificações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295144"/>
            <a:ext cx="4626864" cy="2651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242424"/>
                </a:solidFill>
                <a:latin typeface="Aptos"/>
              </a:rPr>
              <a:t>Atualize a página. Confirme o ano e a categoria. Se os totais não atualizarem, aguarde alguns segundos e volte a abrir a página.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91640"/>
            <a:ext cx="49377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874520"/>
            <a:ext cx="4535424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78917A"/>
                </a:solidFill>
                <a:latin typeface="Aptos"/>
              </a:rPr>
              <a:t>Falar com o administrador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295144"/>
            <a:ext cx="4535424" cy="2651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242424"/>
                </a:solidFill>
                <a:latin typeface="Aptos"/>
              </a:rPr>
              <a:t>Peça novas credenciais temporárias se não conseguir entrar. Para problemas de dados, indique o ano, a categoria e a linha afetada.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10058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400" b="1">
                <a:solidFill>
                  <a:srgbClr val="78917A"/>
                </a:solidFill>
                <a:latin typeface="Aptos"/>
              </a:rPr>
              <a:t>URL da aplicação  ·  https://frombudget.vercel.app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0">
                <a:solidFill>
                  <a:srgbClr val="6B706C"/>
                </a:solidFill>
                <a:latin typeface="Aptos"/>
              </a:rPr>
              <a:t>from: · Budget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00" b="0">
                <a:solidFill>
                  <a:srgbClr val="6B706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